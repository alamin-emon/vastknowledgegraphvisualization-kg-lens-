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KG·LENS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1920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Visual Analytics Interface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256032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ICIJ Offshore Finance Dataset  ·  VAST Challenge 2025 — Design Challenge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20040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218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80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320040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3218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140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2996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9896" y="320040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3218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39896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Entity Types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9824" y="320040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3218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18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9824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Anomalies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9752" y="320040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3218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59752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Visual Panels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Md Al Amin  (701533)  ·  University of Pisa  ·  Visual Analytics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640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ICIJ Offshore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 KG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828800"/>
            <a:ext cx="29260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8379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Panama Papers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83794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2404872"/>
            <a:ext cx="292608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414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Pandora Papers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4140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980944"/>
            <a:ext cx="29260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9900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FinCEN 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9900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3557016"/>
            <a:ext cx="292608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5661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SwissLeaks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5661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4133088"/>
            <a:ext cx="292608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41422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LuxLeaks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41422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74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Types &amp; Scale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66160" y="82296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822960"/>
            <a:ext cx="91440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859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Person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Beneficial owners, directors, nominees, PEPs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8595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15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566160" y="162763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1627632"/>
            <a:ext cx="91440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Organization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1975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Shell companies, banks, SPVs, holding entities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166420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16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3566160" y="2432304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66160" y="2432304"/>
            <a:ext cx="9144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Jurisdiction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27797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BVI, Cayman, Panama, UAE, Switzerland…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4688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10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3566160" y="323697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66160" y="3236976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Intermediary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49040" y="3584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Law firms, trust admins, Mossack Fonseca…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327355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4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3566160" y="404164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66160" y="4041648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4078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Asset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4904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 estate, vessels, hedge funds, crypto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21040" y="407822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10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Choices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Colours · Interactions · Shapes · Transformations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7432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Hue per Entity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97510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5 distinct hues — pre-attentive categorical channel. Indigo=Person, Violet=Org, Cyan=Jurisdiction, Amber=Intermediary, Green=Asset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54480"/>
            <a:ext cx="27432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Uncertainty Ring (Novel)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97510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Dashed concentric SVG circle on nodes with confidence &lt; 0.70. Uses Bertin's shape/texture variable — orthogonal to hue, never interferes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5544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Edge Width = Confidence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97510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Stroke width scales linearly with confidence [0,1]. Thick = strong evidence, thin = speculative. Dashed = inferred, Red = anomalous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Community Force Layout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43814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Custom D3 cluster-attraction force groups nodes by offshore network. 5 geopolitical clusters visible spatially without losing cross-community edges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3 Analytical Task Modes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43814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Discovery: full labels. Anomaly: red pulsing nodes + dimmed rest. Missing Data: green inferred edges + null heatmap flags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175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1752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Red = Anomaly 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438144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Red reserved exclusively for AML flags, SAR filings, sanctions. Never used for entity type or confidence. Cultural alarm signal unambiguous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</a:rPr>
              <a:t>NOVEL CONTRIBUTION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Uncertainty 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17320" y="2240280"/>
            <a:ext cx="1188720" cy="1188720"/>
          </a:xfrm>
          <a:prstGeom prst="ellipse">
            <a:avLst/>
          </a:prstGeom>
          <a:solidFill>
            <a:srgbClr val="6366F1">
              <a:alpha val="40000"/>
            </a:srgbClr>
          </a:solidFill>
          <a:ln w="19050">
            <a:solidFill>
              <a:srgbClr val="6366F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64208" y="2487168"/>
            <a:ext cx="694944" cy="6949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4208" y="24871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0.44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80160" y="34930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Uncertain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(ring shown)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58768" y="2487168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24871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0.97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0" y="34930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Confident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(no ring)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3328" y="2487168"/>
            <a:ext cx="694944" cy="694944"/>
          </a:xfrm>
          <a:prstGeom prst="ellipse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24871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AML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flag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0" y="34930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Anomalous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(red + pulse)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02336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</a:rPr>
              <a:t>Why it works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0" y="181051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764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Uses Bertin's shape/texture visual variable — not hue, not opacity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295144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2494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Perceptually orthogonal: type (hue) and certainty (ring) don't interfere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277977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7340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Dashed line = uncertainty — universal in cartography &amp; technical drawing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264408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218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Gestalt proximity: ring belongs to node it surrounds, not to edges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374904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3703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Satisfies Kindlmann &amp; Scheidegger (2014) algebraic separability criterion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423367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41879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18 of 80 ICIJ nodes carry rings — real AML / data-quality gaps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5BBA"/>
                </a:solidFill>
              </a:rPr>
              <a:t>LINKED DISPLAYS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Visual Widgets — Linked via Pinia Store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13432" y="109728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13432" y="10972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NOVEL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29768" y="1097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Node-Link Diagram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426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force + community layout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Uncertainty rings · task-mode recolouring · drag · zoom · arrowheads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9512" y="109728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10972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FLOW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55848" y="1097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Sankey Diagram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426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custom Sankey (no plugin)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55848" y="1664208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Flow of relationships between entity types — Person→Org, Org→Jurisdiction…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05840"/>
            <a:ext cx="27432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5592" y="109728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10972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STRUCT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81928" y="1097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Connected Components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1928" y="14264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hierarchy pack layout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81928" y="1664208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Bubble pack of communities · anomalous nodes highlighted red inside bubbles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694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69464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266090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26609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FOCUS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9768" y="2660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Ego Network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radial concentric layout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" y="3227832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1-hop and 2-hop rings · edge labels · click chip to jump between nodes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25694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569464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9512" y="266090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9512" y="26609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55848" y="2660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Spatial / Geographic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geoEquirectangular + arc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55848" y="3227832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Jurisdiction pie-chart bubbles · arc overlays trace cross-border flows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25694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569464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65592" y="266090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26609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TIME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81928" y="2660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Temporal 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81928" y="2990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BBA"/>
                </a:solidFill>
              </a:rPr>
              <a:t>D3 stacked bars + scatter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81928" y="3227832"/>
            <a:ext cx="25603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Edge count by year (stacked by type) · scatter dots selectable by click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834640" y="4773168"/>
            <a:ext cx="3474720" cy="27432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All panels share reactive state via Pinia useGraphStore — selecting a node updates every panel instantly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</a:rPr>
              <a:t>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Tracing the Orion Fund Offshore Network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Orion Fund Ltd (Cayman Islands) · Deutsche Bank SAR filing · FinCEN Files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270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5256" y="1490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Discovery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" y="1764792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Click Orion Fund (O07). Uncertainty ring visible — conf=0.44, 3 null attrs. Small node radius = low degree. Secrecy Havens cluster.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270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0096" y="1490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764792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Ego network: 6 connections incl. P03 Volkov (uncertain), P06 Al-Mansouri (anomaly), A08 Cayman CLO (uncertain). Missing employees/revenue/founded.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587752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69748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" y="2660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Anomaly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" y="2935224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Two red pulsing edges: P06→O07 'beneficialOwner' (conf=0.44) and P11→O07 'financedBy' (conf=0.35). Both UAE-based PEPs. Hostile ownership confirmed.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587752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97480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0096" y="2660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Missing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2935224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Green inferred edges: O07→O03 'linkedSPV?' and P06→A08 'controls?'. Heatmap shows null fields = classic nominee shell signature.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58184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86791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67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" y="3831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Conf Slider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5256" y="4105656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Lower to 25% — P14 Carvalho (indicted) and speculative P01↔P11 link appear. Potential crypto-layering chain A08→A10 (Abu Dhabi wallet).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758184"/>
            <a:ext cx="42062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86791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67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0096" y="3831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Geo + 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0096" y="4105656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Geographic arcs: UAE→BVI→Cayman→Luxembourg. Temporal view: anomalous edges cluster 2015–2020 — post-Panama Papers FATF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5BBA"/>
                </a:solidFill>
              </a:rPr>
              <a:t>STATE OF THE 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Similar Tools &amp; Where KG·LENS Goes Further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Gap vs KG·LENS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Neo4j Bloom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52704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Node-link + NLP search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49240" y="1527048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 uncertainty encoding; graph expertise required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8412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Gephi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Force layout + modularity clusters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011680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Static export; no confidence channel; no missing-data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ICIJ Offshore UI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4963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Network + table for leaks data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249631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Known facts only — no confidence, anomaly or inference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8412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8094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RDF Explorer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298094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Tabular + graph triple browser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49240" y="298094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Doesn't scale; no analytical task guidance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4728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6557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Kùzu Explorer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34655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Cypher query + node-link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49240" y="346557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Query-driven; no uncertainty; not exploration-first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5020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VAST 2023 MC2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39502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Node-link + timeline (domain-specific)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49240" y="3950208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Uncertainty rarely addressed; no task-mode switching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KG·LENS uniquely combines: multi-channel epistemic uncertainty (ring + lightness + edge width) · 3 task modes · real ICIJ dataset · 6 linked D3 panels — in one interface for non-expert users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LIMITATIONS &amp; REFLECTION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Trade-offs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233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9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653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Comfortable: 20–150 nodes. Degrades beyond ~400 without super-node aggregation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40233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04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Pre-requisites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60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Needs pre-computed: confidence scores, anomaly flags, Louvain clusters, lat/lng, edge years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40233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Dense graphs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Not suited for &gt;8 edges/node avg — edge occlusion becomes severe; force layout noisy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40233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95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Mobile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Desktop-only (1280px+); no touch/mobile redesign — single-panel focus view needed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Reflection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4114800" cy="978408"/>
          </a:xfrm>
          <a:prstGeom prst="rect">
            <a:avLst/>
          </a:prstGeom>
          <a:solidFill>
            <a:srgbClr val="1E2761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Real data changed everything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883664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18-node synthetic set → 80-node ICIJ graph exposed real design problems: opacity encoding failed; uncertainty ring emerged from actual O07 node (conf=0.44, 3 nulls)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624328"/>
            <a:ext cx="4114800" cy="978408"/>
          </a:xfrm>
          <a:prstGeom prst="rect">
            <a:avLst/>
          </a:prstGeom>
          <a:solidFill>
            <a:srgbClr val="1E2761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688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Hardest: perceptual orthogonality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95351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Encoding uncertainty without conflating with entity-type hue required the concentric ring — uses Bertin's shape/texture variable, not opacity or colour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694176"/>
            <a:ext cx="4114800" cy="978408"/>
          </a:xfrm>
          <a:prstGeom prst="rect">
            <a:avLst/>
          </a:prstGeom>
          <a:solidFill>
            <a:srgbClr val="1E2761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58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Task-first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02336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Designing from analytical tasks (not data) forced explicit formalisation of what properties a KG must expose — yielded more generalisable visual grammar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SCALE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Tested on the Real VAST 2025 MC1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17,412 nodes · 37,857 edges · Oceanus music-industry KG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Server-Side Aggregation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1. Load full 17,412-node graph (NetworkX)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2. Compute degree centrality on full graph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3. Louvain community detection — 94 communities found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4. Confidence proxy from log-degree + attribute completeness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5. Sample top-25 highest-degree nodes per community + all anomalies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6. Output: 90-node / 113-edge subgraph for KG·LENS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4023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Independent Verification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NetworkX re-derives 129 reversed RecordedBy edges (RecordLabel→Album/Song instead of work→label) — directly on the raw 37,857-edge graph. Same defect class found independently in another VAST 2025 student project (Telescope, 103 reversed edges).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9144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17,412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Full graph nodes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779008" y="3108960"/>
            <a:ext cx="9144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94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79008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Louvain communities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03136" y="3108960"/>
            <a:ext cx="9144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90 / 113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03136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Sampled subgraph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27264" y="3108960"/>
            <a:ext cx="9144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27264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129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27264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Anomalies found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54880" y="4023360"/>
            <a:ext cx="4023360" cy="7772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4023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Same dataset switcher in KG·LENS toggles between the 80-node ICIJ design and this 90-node MC1 sample — all 6 panels render unchanged on both.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Validates Section 6.2's scaling argument against a real, independently-audited 17K-node knowledge graph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KG·LENS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Knowledge Graph Visual Analytics for Offshore Finance Investigation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24028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80 Nodes · 140 Edges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224028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ICIJ Real-World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224028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Novel Uncertainty 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743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Analytical Task Modes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743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Linked D3 Panels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Validated on MC1 (17K nodes)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Md Al Amin  (Matricola 701533)  ·  University of Pisa  ·  Visual Analytics 2025–2026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KG·LENS — VAST Challenge 2025</dc:title>
  <dc:subject>PptxGenJS Presentation</dc:subject>
  <dc:creator>Md Al Amin</dc:creator>
  <cp:lastModifiedBy>Md Al Amin</cp:lastModifiedBy>
  <cp:revision>1</cp:revision>
  <dcterms:created xsi:type="dcterms:W3CDTF">2026-06-11T09:29:57Z</dcterms:created>
  <dcterms:modified xsi:type="dcterms:W3CDTF">2026-06-11T09:29:57Z</dcterms:modified>
</cp:coreProperties>
</file>